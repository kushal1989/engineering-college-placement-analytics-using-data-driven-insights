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2" r:id="rId4"/>
    <p:sldId id="260" r:id="rId5"/>
    <p:sldId id="261" r:id="rId6"/>
    <p:sldId id="270" r:id="rId7"/>
    <p:sldId id="264" r:id="rId8"/>
    <p:sldId id="265" r:id="rId9"/>
    <p:sldId id="271" r:id="rId10"/>
    <p:sldId id="276" r:id="rId11"/>
    <p:sldId id="279" r:id="rId12"/>
    <p:sldId id="277" r:id="rId13"/>
    <p:sldId id="280" r:id="rId14"/>
    <p:sldId id="278" r:id="rId15"/>
    <p:sldId id="275" r:id="rId16"/>
    <p:sldId id="281" r:id="rId17"/>
    <p:sldId id="274" r:id="rId18"/>
    <p:sldId id="272" r:id="rId19"/>
    <p:sldId id="259" r:id="rId20"/>
  </p:sldIdLst>
  <p:sldSz cx="12192000" cy="6858000"/>
  <p:notesSz cx="6858000" cy="9144000"/>
  <p:embeddedFontLst>
    <p:embeddedFont>
      <p:font typeface="Lato Black" panose="020F0502020204030203" pitchFamily="34" charset="0"/>
      <p:bold r:id="rId22"/>
      <p:boldItalic r:id="rId23"/>
    </p:embeddedFont>
    <p:embeddedFont>
      <p:font typeface="Libre Baskerville" panose="02000000000000000000" pitchFamily="2" charset="0"/>
      <p:regular r:id="rId24"/>
      <p:bold r:id="rId25"/>
      <p: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0466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edin.com/in/kushal-manduri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kushal1989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llegesearch.in/engineering-colleges-india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ED7609-4242-9F27-2D6C-397CF22D4519}"/>
              </a:ext>
            </a:extLst>
          </p:cNvPr>
          <p:cNvSpPr txBox="1"/>
          <p:nvPr/>
        </p:nvSpPr>
        <p:spPr>
          <a:xfrm>
            <a:off x="8076657" y="5457323"/>
            <a:ext cx="328487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M. Kushal Virendra Chowdary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No: 436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4523F8-644C-3679-EB33-5C1DBF759405}"/>
              </a:ext>
            </a:extLst>
          </p:cNvPr>
          <p:cNvSpPr txBox="1"/>
          <p:nvPr/>
        </p:nvSpPr>
        <p:spPr>
          <a:xfrm>
            <a:off x="944880" y="3992880"/>
            <a:ext cx="10560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Engineering College &amp; Placement Analytics Using Data-Driven Insights</a:t>
            </a:r>
            <a:endParaRPr lang="en-IN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4;p3">
            <a:extLst>
              <a:ext uri="{FF2B5EF4-FFF2-40B4-BE49-F238E27FC236}">
                <a16:creationId xmlns:a16="http://schemas.microsoft.com/office/drawing/2014/main" id="{BCF7C222-7155-930D-4719-DAA64D7641EE}"/>
              </a:ext>
            </a:extLst>
          </p:cNvPr>
          <p:cNvSpPr txBox="1"/>
          <p:nvPr/>
        </p:nvSpPr>
        <p:spPr>
          <a:xfrm>
            <a:off x="427656" y="1309332"/>
            <a:ext cx="10855474" cy="249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am a recent </a:t>
            </a:r>
            <a:r>
              <a:rPr 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B.Tech</a:t>
            </a:r>
            <a:r>
              <a:rPr 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graduate in Artificial Intelligence and Data Science from Vignan Institute of Technology and Science.</a:t>
            </a:r>
          </a:p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an AI &amp; DS student, I have the passion and interest to learn Data Science and apply it to solve real-world problems</a:t>
            </a:r>
            <a:endParaRPr sz="250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 -</a:t>
            </a:r>
            <a:r>
              <a:rPr lang="en-IN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 tooltip="https://linkedin.com/in/kushal-manduri"/>
              </a:rPr>
              <a:t>https://linkedin.com/in/kushal-manduri</a:t>
            </a:r>
            <a:r>
              <a:rPr lang="en-IN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 -</a:t>
            </a:r>
            <a:r>
              <a:rPr lang="en-IN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 tooltip="https://github.com/kushal1989"/>
              </a:rPr>
              <a:t>https://github.com/kushal1989</a:t>
            </a:r>
            <a:endParaRPr sz="25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9A3396D-1558-11BF-C315-ECCAF963E17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47827" y="1536174"/>
            <a:ext cx="575056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 statement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Objective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Understanding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Steps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Hypothesis Testing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Q&amp;A</a:t>
            </a:r>
          </a:p>
        </p:txBody>
      </p:sp>
      <p:sp>
        <p:nvSpPr>
          <p:cNvPr id="3" name="Google Shape;105;p3">
            <a:extLst>
              <a:ext uri="{FF2B5EF4-FFF2-40B4-BE49-F238E27FC236}">
                <a16:creationId xmlns:a16="http://schemas.microsoft.com/office/drawing/2014/main" id="{9D9983E7-8F0E-9DD4-AE37-C7E51BEE61E2}"/>
              </a:ext>
            </a:extLst>
          </p:cNvPr>
          <p:cNvSpPr txBox="1"/>
          <p:nvPr/>
        </p:nvSpPr>
        <p:spPr>
          <a:xfrm>
            <a:off x="199056" y="253269"/>
            <a:ext cx="60994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US" sz="35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Table of Contents</a:t>
            </a:r>
            <a:endParaRPr sz="3500" b="1" i="0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DC94B3-1F4C-A41D-344F-6394ADA4D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8519" y="1092200"/>
            <a:ext cx="4673600" cy="46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96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5;p3">
            <a:extLst>
              <a:ext uri="{FF2B5EF4-FFF2-40B4-BE49-F238E27FC236}">
                <a16:creationId xmlns:a16="http://schemas.microsoft.com/office/drawing/2014/main" id="{1EA26A72-0726-7EB9-E878-C5C5C2227FAD}"/>
              </a:ext>
            </a:extLst>
          </p:cNvPr>
          <p:cNvSpPr txBox="1"/>
          <p:nvPr/>
        </p:nvSpPr>
        <p:spPr>
          <a:xfrm>
            <a:off x="427656" y="416554"/>
            <a:ext cx="6099463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Business 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0BDDEC-36EB-6505-32AC-2613D8A46AC9}"/>
              </a:ext>
            </a:extLst>
          </p:cNvPr>
          <p:cNvSpPr txBox="1"/>
          <p:nvPr/>
        </p:nvSpPr>
        <p:spPr>
          <a:xfrm>
            <a:off x="528320" y="1854200"/>
            <a:ext cx="11135360" cy="3728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Ravi is a Class 12 student who wants to pursue engineering.  He searches online and finds thousands of engineering colleges with different Tuition fees, Placement packages, Rankings, Locations &amp; Student ratings </a:t>
            </a:r>
          </a:p>
          <a:p>
            <a:pPr algn="just">
              <a:lnSpc>
                <a:spcPct val="150000"/>
              </a:lnSpc>
            </a:pPr>
            <a:endParaRPr lang="en-US" sz="2000" dirty="0"/>
          </a:p>
          <a:p>
            <a:pPr algn="just">
              <a:lnSpc>
                <a:spcPct val="150000"/>
              </a:lnSpc>
            </a:pPr>
            <a:r>
              <a:rPr lang="en-US" sz="2000" dirty="0"/>
              <a:t>Students and parents face difficulty in selecting engineering colleges because:-</a:t>
            </a:r>
          </a:p>
          <a:p>
            <a:pPr marL="182563" indent="-18256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Fee structures vary widely</a:t>
            </a:r>
          </a:p>
          <a:p>
            <a:pPr marL="182563" indent="-18256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Placement outcomes are inconsistent </a:t>
            </a:r>
          </a:p>
          <a:p>
            <a:pPr marL="182563" indent="-18256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Rankings do not always reflect value for money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64574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5;p3">
            <a:extLst>
              <a:ext uri="{FF2B5EF4-FFF2-40B4-BE49-F238E27FC236}">
                <a16:creationId xmlns:a16="http://schemas.microsoft.com/office/drawing/2014/main" id="{32B03100-B985-9CEE-3DBC-598EA4369DE9}"/>
              </a:ext>
            </a:extLst>
          </p:cNvPr>
          <p:cNvSpPr txBox="1"/>
          <p:nvPr/>
        </p:nvSpPr>
        <p:spPr>
          <a:xfrm>
            <a:off x="346376" y="314954"/>
            <a:ext cx="609946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eaLnBrk="0" fontAlgn="base" hangingPunct="0"/>
            <a:r>
              <a:rPr lang="en-US" altLang="en-US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Objective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8197F7-779B-7875-0E7A-C0C845669B51}"/>
              </a:ext>
            </a:extLst>
          </p:cNvPr>
          <p:cNvSpPr txBox="1"/>
          <p:nvPr/>
        </p:nvSpPr>
        <p:spPr>
          <a:xfrm rot="10800000" flipV="1">
            <a:off x="497840" y="1540188"/>
            <a:ext cx="11196319" cy="2343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The objective of this project is to perform Exploratory Data Analysis (EDA) on engineering college data scraped from online platforms in order to:-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Analyze the relationship between fees and placement packages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Compare performance across locations and rankings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Highlight trends that help students choose colleges wisely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39588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5;p3">
            <a:extLst>
              <a:ext uri="{FF2B5EF4-FFF2-40B4-BE49-F238E27FC236}">
                <a16:creationId xmlns:a16="http://schemas.microsoft.com/office/drawing/2014/main" id="{0E01D813-1EDE-BC60-6764-5F42D00327F5}"/>
              </a:ext>
            </a:extLst>
          </p:cNvPr>
          <p:cNvSpPr txBox="1"/>
          <p:nvPr/>
        </p:nvSpPr>
        <p:spPr>
          <a:xfrm>
            <a:off x="244776" y="83303"/>
            <a:ext cx="609946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eaLnBrk="0" fontAlgn="base" hangingPunct="0"/>
            <a:r>
              <a:rPr lang="en-IN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B4DC7B0-39BB-CCC1-3F7C-B71C7D9FC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2" y="668038"/>
            <a:ext cx="10792046" cy="5575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 was scraped from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collegesearch.in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 web platform listing colleges in India.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Specifically, the engineering college listings were collected from: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https://www.collegesearch.in/engineering-colleges-india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site provides information on engineering colleges, including:</a:t>
            </a:r>
          </a:p>
          <a:p>
            <a:pPr marL="457200" lvl="8" indent="-952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College name</a:t>
            </a:r>
          </a:p>
          <a:p>
            <a:pPr marL="457200" lvl="8" indent="-952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Location (state / city)</a:t>
            </a:r>
          </a:p>
          <a:p>
            <a:pPr marL="457200" lvl="8" indent="-952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Tuition fees</a:t>
            </a:r>
          </a:p>
          <a:p>
            <a:pPr marL="457200" lvl="8" indent="-952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Placement packages</a:t>
            </a:r>
          </a:p>
          <a:p>
            <a:pPr marL="457200" lvl="8" indent="-952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Ratings and reviews</a:t>
            </a:r>
          </a:p>
          <a:p>
            <a:pPr marL="457200" lvl="8" indent="-952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Entrance exams accepted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a useful resource for comparing and evaluating institutions across India.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 obtained from this site formed the basis of the dataset used in this project.</a:t>
            </a:r>
          </a:p>
        </p:txBody>
      </p:sp>
    </p:spTree>
    <p:extLst>
      <p:ext uri="{BB962C8B-B14F-4D97-AF65-F5344CB8AC3E}">
        <p14:creationId xmlns:p14="http://schemas.microsoft.com/office/powerpoint/2010/main" val="1185339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5;p3">
            <a:extLst>
              <a:ext uri="{FF2B5EF4-FFF2-40B4-BE49-F238E27FC236}">
                <a16:creationId xmlns:a16="http://schemas.microsoft.com/office/drawing/2014/main" id="{FA3F606F-350E-A489-40F1-7F039015AB7B}"/>
              </a:ext>
            </a:extLst>
          </p:cNvPr>
          <p:cNvSpPr txBox="1"/>
          <p:nvPr/>
        </p:nvSpPr>
        <p:spPr>
          <a:xfrm>
            <a:off x="244776" y="83303"/>
            <a:ext cx="609946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eaLnBrk="0" fontAlgn="base" hangingPunct="0"/>
            <a:r>
              <a:rPr lang="en-IN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Understanding</a:t>
            </a:r>
            <a:endParaRPr lang="en-US" altLang="en-US" sz="32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85B182-47EB-E4AD-5C9B-F2382C793D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894773"/>
              </p:ext>
            </p:extLst>
          </p:nvPr>
        </p:nvGraphicFramePr>
        <p:xfrm>
          <a:off x="706120" y="1110774"/>
          <a:ext cx="10515600" cy="4854642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61349046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1769341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650841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Column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5075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500" dirty="0" err="1"/>
                        <a:t>college_name</a:t>
                      </a:r>
                      <a:endParaRPr lang="en-IN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500"/>
                        <a:t>Object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500"/>
                        <a:t>Name of the engineering college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906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500" dirty="0"/>
                        <a:t>rating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5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500"/>
                        <a:t>Average student rating of the college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298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500" dirty="0"/>
                        <a:t>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500"/>
                        <a:t>Object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500"/>
                        <a:t>State or city where the college is located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960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500" dirty="0" err="1"/>
                        <a:t>courses_offered</a:t>
                      </a:r>
                      <a:endParaRPr lang="en-IN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500"/>
                        <a:t>Object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500"/>
                        <a:t>Engineering courses offered by the college (e.g., B.Tech / B.E.)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4351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500" dirty="0" err="1"/>
                        <a:t>tution_fee</a:t>
                      </a:r>
                      <a:endParaRPr lang="en-IN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500" dirty="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500"/>
                        <a:t>Tuition fee charged by the college in INR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6160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500" dirty="0" err="1"/>
                        <a:t>exams_accepted</a:t>
                      </a:r>
                      <a:endParaRPr lang="en-IN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500"/>
                        <a:t>Object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500"/>
                        <a:t>Entrance examinations accepted for admission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450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500" dirty="0" err="1"/>
                        <a:t>highest_package</a:t>
                      </a:r>
                      <a:endParaRPr lang="en-IN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500" dirty="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500" dirty="0"/>
                        <a:t>Highest placement package offered by the college (in LPA)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856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1040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778C94-841D-4BE7-3429-24F53900A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97" y="589605"/>
            <a:ext cx="11145805" cy="44392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0739AE-3BE1-ACFE-5740-7F176042FCEF}"/>
              </a:ext>
            </a:extLst>
          </p:cNvPr>
          <p:cNvSpPr txBox="1"/>
          <p:nvPr/>
        </p:nvSpPr>
        <p:spPr>
          <a:xfrm>
            <a:off x="4814238" y="5283200"/>
            <a:ext cx="2563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 Scraped From Website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40437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5;p3">
            <a:extLst>
              <a:ext uri="{FF2B5EF4-FFF2-40B4-BE49-F238E27FC236}">
                <a16:creationId xmlns:a16="http://schemas.microsoft.com/office/drawing/2014/main" id="{77CC0D93-05C2-7219-80C8-4649C7A024C3}"/>
              </a:ext>
            </a:extLst>
          </p:cNvPr>
          <p:cNvSpPr txBox="1"/>
          <p:nvPr/>
        </p:nvSpPr>
        <p:spPr>
          <a:xfrm>
            <a:off x="244776" y="83303"/>
            <a:ext cx="609946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eaLnBrk="0" fontAlgn="base" hangingPunct="0"/>
            <a:r>
              <a:rPr lang="en-IN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Steps</a:t>
            </a:r>
            <a:endParaRPr lang="en-US" altLang="en-US" sz="32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AABE1E6-A5F2-18C2-259B-59582FFB3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776" y="1178902"/>
            <a:ext cx="11947223" cy="4190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82563" marR="0" lvl="0" indent="-18256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duplicate college records to avoid repeated analysis.</a:t>
            </a:r>
          </a:p>
          <a:p>
            <a:pPr marL="182563" marR="0" lvl="0" indent="-18256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Handled missing values in tuition fee and highest package columns by converting unavailable entries (e.g., 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“Get Fee Details”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“-”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into null values.</a:t>
            </a:r>
          </a:p>
          <a:p>
            <a:pPr marL="182563" marR="0" lvl="0" indent="-18256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currency fields by:</a:t>
            </a:r>
          </a:p>
          <a:p>
            <a:pPr marL="447675" lvl="3" indent="-1841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Removing symbols such as ₹ and commas</a:t>
            </a:r>
          </a:p>
          <a:p>
            <a:pPr marL="447675" lvl="3" indent="-1841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Converting fees and packages into numeric format for analysis.</a:t>
            </a:r>
          </a:p>
          <a:p>
            <a:pPr marL="182563" marR="0" lvl="0" indent="-18256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location data by extracting only state names from mixed text entries.</a:t>
            </a:r>
          </a:p>
          <a:p>
            <a:pPr marL="182563" marR="0" lvl="0" indent="-18256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irrelevant text and noise from scraped data (e.g., 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“Official Admission Partner”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“View College”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11759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7841EF0-4DFA-EC34-FDDA-D0EBEE410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384" y="343200"/>
            <a:ext cx="4561840" cy="3085800"/>
          </a:xfrm>
          <a:prstGeom prst="rect">
            <a:avLst/>
          </a:prstGeom>
        </p:spPr>
      </p:pic>
      <p:sp>
        <p:nvSpPr>
          <p:cNvPr id="2" name="Google Shape;105;p3">
            <a:extLst>
              <a:ext uri="{FF2B5EF4-FFF2-40B4-BE49-F238E27FC236}">
                <a16:creationId xmlns:a16="http://schemas.microsoft.com/office/drawing/2014/main" id="{63EB2B10-7A65-B11B-28DD-3ECC287E170E}"/>
              </a:ext>
            </a:extLst>
          </p:cNvPr>
          <p:cNvSpPr txBox="1"/>
          <p:nvPr/>
        </p:nvSpPr>
        <p:spPr>
          <a:xfrm>
            <a:off x="244776" y="83303"/>
            <a:ext cx="609946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eaLnBrk="0" fontAlgn="base" hangingPunct="0"/>
            <a:r>
              <a:rPr lang="en-US" altLang="en-US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 Variate Analysis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85B3828-E05C-C33E-B786-D57F58109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76" y="3429000"/>
            <a:ext cx="4561840" cy="3085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261A02-EDC0-F5DC-335E-C73DD01CF929}"/>
              </a:ext>
            </a:extLst>
          </p:cNvPr>
          <p:cNvSpPr txBox="1"/>
          <p:nvPr/>
        </p:nvSpPr>
        <p:spPr>
          <a:xfrm>
            <a:off x="244776" y="1562934"/>
            <a:ext cx="7019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Tuition fees are right-skewed, with most colleges charging low to moderate fees and only a few colleges demanding very high fees.</a:t>
            </a:r>
            <a:endParaRPr lang="en-IN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0AEDAA-1509-7689-A48B-495D0BCBBEAD}"/>
              </a:ext>
            </a:extLst>
          </p:cNvPr>
          <p:cNvSpPr txBox="1"/>
          <p:nvPr/>
        </p:nvSpPr>
        <p:spPr>
          <a:xfrm>
            <a:off x="4978400" y="4510235"/>
            <a:ext cx="67970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Highest packages are highly skewed, where most colleges offer average packages, while a small number of colleges report extremely high packages acting as outliers.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028121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CD9C234F-A2D2-8E77-0B21-1DF1FEE22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17" y="213486"/>
            <a:ext cx="4561840" cy="30652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377864A-5FDF-6374-6637-8ADF4E7D8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142" y="3177114"/>
            <a:ext cx="4561841" cy="30652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ED176D-9FF8-1680-2323-29D6B9E13943}"/>
              </a:ext>
            </a:extLst>
          </p:cNvPr>
          <p:cNvSpPr txBox="1"/>
          <p:nvPr/>
        </p:nvSpPr>
        <p:spPr>
          <a:xfrm>
            <a:off x="5362589" y="1280396"/>
            <a:ext cx="65263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Engineering colleges are highly concentrated in a few states, with Maharashtra and Tamil Nadu leading significantly over others.</a:t>
            </a:r>
            <a:endParaRPr lang="en-IN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F593D-C699-3CFD-47C8-CC7D3EAE2EDE}"/>
              </a:ext>
            </a:extLst>
          </p:cNvPr>
          <p:cNvSpPr txBox="1"/>
          <p:nvPr/>
        </p:nvSpPr>
        <p:spPr>
          <a:xfrm>
            <a:off x="303016" y="4074160"/>
            <a:ext cx="66362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JEE Main dominates as the primary entrance exam, followed by major state-level exams, indicating a centralized admission pattern.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514838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7C66C5-9979-E72A-E7E5-3494FED01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80" y="3210559"/>
            <a:ext cx="4419600" cy="29952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D14C18-E65A-DD96-3DA2-5192D1F53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920" y="433774"/>
            <a:ext cx="4419600" cy="2995226"/>
          </a:xfrm>
          <a:prstGeom prst="rect">
            <a:avLst/>
          </a:prstGeom>
        </p:spPr>
      </p:pic>
      <p:sp>
        <p:nvSpPr>
          <p:cNvPr id="2" name="Google Shape;105;p3">
            <a:extLst>
              <a:ext uri="{FF2B5EF4-FFF2-40B4-BE49-F238E27FC236}">
                <a16:creationId xmlns:a16="http://schemas.microsoft.com/office/drawing/2014/main" id="{F6DCA0D0-4D0E-1735-F4F4-BDC60282BCB4}"/>
              </a:ext>
            </a:extLst>
          </p:cNvPr>
          <p:cNvSpPr txBox="1"/>
          <p:nvPr/>
        </p:nvSpPr>
        <p:spPr>
          <a:xfrm>
            <a:off x="244776" y="83303"/>
            <a:ext cx="609946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eaLnBrk="0" fontAlgn="base" hangingPunct="0"/>
            <a:r>
              <a:rPr lang="en-US" altLang="en-US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 Variate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03D9F5-1B08-4319-25CF-93814BCFB0CE}"/>
              </a:ext>
            </a:extLst>
          </p:cNvPr>
          <p:cNvSpPr txBox="1"/>
          <p:nvPr/>
        </p:nvSpPr>
        <p:spPr>
          <a:xfrm>
            <a:off x="386080" y="1608221"/>
            <a:ext cx="6746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Higher-rated colleges do not consistently charge higher fees, indicating that ratings alone are not a strong driver of tuition cost.</a:t>
            </a:r>
            <a:endParaRPr lang="en-IN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04CE4C-0EF0-203D-1EA4-F1813020BF32}"/>
              </a:ext>
            </a:extLst>
          </p:cNvPr>
          <p:cNvSpPr txBox="1"/>
          <p:nvPr/>
        </p:nvSpPr>
        <p:spPr>
          <a:xfrm>
            <a:off x="5323840" y="4246507"/>
            <a:ext cx="6583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Paying higher tuition fees does not guarantee higher placement packages, as most high packages occur across a wide fee range.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233370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93833F5-B17C-0D81-4661-49137B69A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291839"/>
            <a:ext cx="4419600" cy="29713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DE251E-55E2-89C6-8A67-8F35BDEA0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3774"/>
            <a:ext cx="4419600" cy="299522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61F7E6-0389-A389-80FC-E1D4006AA4EC}"/>
              </a:ext>
            </a:extLst>
          </p:cNvPr>
          <p:cNvSpPr txBox="1"/>
          <p:nvPr/>
        </p:nvSpPr>
        <p:spPr>
          <a:xfrm>
            <a:off x="5120640" y="1469722"/>
            <a:ext cx="67970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States show wide variation in placement packages, with a few colleges in each state offering very high packages while most provide moderate outcomes.</a:t>
            </a:r>
            <a:endParaRPr lang="en-IN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79B819-5975-62E8-BE9C-A94DA02A2675}"/>
              </a:ext>
            </a:extLst>
          </p:cNvPr>
          <p:cNvSpPr txBox="1"/>
          <p:nvPr/>
        </p:nvSpPr>
        <p:spPr>
          <a:xfrm>
            <a:off x="274320" y="4315858"/>
            <a:ext cx="6522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Higher-rated colleges tend to have better placement potential, but high packages are not guaranteed by ratings alone, indicating weak-to-moderate correlation.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625486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EB6BE0-8AAF-227C-E17C-275D568DB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239" y="1380839"/>
            <a:ext cx="5382376" cy="4096322"/>
          </a:xfrm>
          <a:prstGeom prst="rect">
            <a:avLst/>
          </a:prstGeom>
        </p:spPr>
      </p:pic>
      <p:sp>
        <p:nvSpPr>
          <p:cNvPr id="2" name="Google Shape;105;p3">
            <a:extLst>
              <a:ext uri="{FF2B5EF4-FFF2-40B4-BE49-F238E27FC236}">
                <a16:creationId xmlns:a16="http://schemas.microsoft.com/office/drawing/2014/main" id="{2C2AA98D-26A2-FDE7-EC14-54BD93B41DD5}"/>
              </a:ext>
            </a:extLst>
          </p:cNvPr>
          <p:cNvSpPr txBox="1"/>
          <p:nvPr/>
        </p:nvSpPr>
        <p:spPr>
          <a:xfrm>
            <a:off x="244776" y="83303"/>
            <a:ext cx="609946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eaLnBrk="0" fontAlgn="base" hangingPunct="0"/>
            <a:r>
              <a:rPr lang="en-US" altLang="en-US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 Variate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336E65-9BE5-8C56-D616-1A97C2324A21}"/>
              </a:ext>
            </a:extLst>
          </p:cNvPr>
          <p:cNvSpPr txBox="1"/>
          <p:nvPr/>
        </p:nvSpPr>
        <p:spPr>
          <a:xfrm>
            <a:off x="244776" y="1720840"/>
            <a:ext cx="58512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en-US" sz="1800" dirty="0"/>
              <a:t>Tuition Fee vs Highest Package (≈ 0.30)   - Shows a moderate positive correlation. Colleges with higher fees tend to offer higher placement packages, but the relationship is not strong.</a:t>
            </a:r>
          </a:p>
          <a:p>
            <a:pPr marL="285750" indent="-285750" algn="just">
              <a:buFontTx/>
              <a:buChar char="-"/>
            </a:pPr>
            <a:endParaRPr lang="en-US" sz="1800" dirty="0"/>
          </a:p>
          <a:p>
            <a:pPr marL="285750" indent="-285750" algn="just">
              <a:buFontTx/>
              <a:buChar char="-"/>
            </a:pPr>
            <a:r>
              <a:rPr lang="en-US" sz="1800" dirty="0"/>
              <a:t>Rating vs Tuition Fee (≈ -0.03) - Almost no correlation. Higher-rated colleges do not necessarily charge higher fees.</a:t>
            </a:r>
          </a:p>
          <a:p>
            <a:pPr marL="285750" indent="-285750" algn="just">
              <a:buFontTx/>
              <a:buChar char="-"/>
            </a:pPr>
            <a:endParaRPr lang="en-US" sz="1800" dirty="0"/>
          </a:p>
          <a:p>
            <a:pPr marL="285750" indent="-285750" algn="just">
              <a:buFontTx/>
              <a:buChar char="-"/>
            </a:pPr>
            <a:r>
              <a:rPr lang="en-US" sz="1800" dirty="0"/>
              <a:t>Rating vs Highest Package (≈ 0.04) - Very weak correlation. College ratings do not reliably indicate better placement outcomes.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900313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5;p3">
            <a:extLst>
              <a:ext uri="{FF2B5EF4-FFF2-40B4-BE49-F238E27FC236}">
                <a16:creationId xmlns:a16="http://schemas.microsoft.com/office/drawing/2014/main" id="{BB68C42E-8BD9-D3BB-356C-6C0A7808310E}"/>
              </a:ext>
            </a:extLst>
          </p:cNvPr>
          <p:cNvSpPr txBox="1"/>
          <p:nvPr/>
        </p:nvSpPr>
        <p:spPr>
          <a:xfrm>
            <a:off x="143176" y="132074"/>
            <a:ext cx="609946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eaLnBrk="0" fontAlgn="base" hangingPunct="0"/>
            <a:r>
              <a:rPr lang="en-US" altLang="en-US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Hypothesis Testing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EA37E2-5577-D81A-AFB7-65AF954C0161}"/>
              </a:ext>
            </a:extLst>
          </p:cNvPr>
          <p:cNvSpPr txBox="1"/>
          <p:nvPr/>
        </p:nvSpPr>
        <p:spPr>
          <a:xfrm>
            <a:off x="143176" y="863600"/>
            <a:ext cx="6099463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dirty="0"/>
              <a:t>Hypotheses 1:</a:t>
            </a:r>
          </a:p>
          <a:p>
            <a:r>
              <a:rPr lang="en-IN" sz="1700" dirty="0"/>
              <a:t>H₀ : Tuition fee has no impact on highest placement package</a:t>
            </a:r>
          </a:p>
          <a:p>
            <a:r>
              <a:rPr lang="en-IN" sz="1700" dirty="0"/>
              <a:t>H₁ : Higher tuition fee significantly affects placement package</a:t>
            </a:r>
          </a:p>
          <a:p>
            <a:endParaRPr lang="en-IN" sz="1700" dirty="0"/>
          </a:p>
          <a:p>
            <a:r>
              <a:rPr lang="en-IN" sz="1700" dirty="0"/>
              <a:t>Result:</a:t>
            </a:r>
          </a:p>
          <a:p>
            <a:r>
              <a:rPr lang="en-IN" sz="1700" dirty="0"/>
              <a:t>p-value = 5.01 × 10⁻⁹</a:t>
            </a:r>
          </a:p>
          <a:p>
            <a:r>
              <a:rPr lang="en-IN" sz="1700" dirty="0"/>
              <a:t>Decision: Reject H₀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571BC-2C5D-1A0A-7528-C35281C6663F}"/>
              </a:ext>
            </a:extLst>
          </p:cNvPr>
          <p:cNvSpPr txBox="1"/>
          <p:nvPr/>
        </p:nvSpPr>
        <p:spPr>
          <a:xfrm>
            <a:off x="8128936" y="1252617"/>
            <a:ext cx="406306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/>
              <a:t>Tuition fee significantly affects placement, but higher fees do not always guarantee proportionally higher packages.</a:t>
            </a:r>
            <a:endParaRPr lang="en-IN" sz="17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FE749-2753-9245-7407-D4D3658ADE6E}"/>
              </a:ext>
            </a:extLst>
          </p:cNvPr>
          <p:cNvSpPr txBox="1"/>
          <p:nvPr/>
        </p:nvSpPr>
        <p:spPr>
          <a:xfrm>
            <a:off x="143176" y="3596640"/>
            <a:ext cx="6099463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/>
              <a:t>Hypotheses 2:</a:t>
            </a:r>
          </a:p>
          <a:p>
            <a:r>
              <a:rPr lang="en-US" sz="1700" dirty="0"/>
              <a:t>H₀: College rating does not affect placement outcomes</a:t>
            </a:r>
          </a:p>
          <a:p>
            <a:r>
              <a:rPr lang="en-US" sz="1700" dirty="0"/>
              <a:t>H₁: Higher-rated colleges give better placements</a:t>
            </a:r>
          </a:p>
          <a:p>
            <a:endParaRPr lang="en-US" sz="1700" dirty="0"/>
          </a:p>
          <a:p>
            <a:r>
              <a:rPr lang="en-US" sz="1700" dirty="0"/>
              <a:t>Result:</a:t>
            </a:r>
          </a:p>
          <a:p>
            <a:r>
              <a:rPr lang="en-US" sz="1700" dirty="0"/>
              <a:t>p-value = 0.565</a:t>
            </a:r>
          </a:p>
          <a:p>
            <a:r>
              <a:rPr lang="en-US" sz="1700" dirty="0"/>
              <a:t>Decision: Fail to reject H₀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847296-A506-3ED8-9698-E74F59AD0074}"/>
              </a:ext>
            </a:extLst>
          </p:cNvPr>
          <p:cNvSpPr txBox="1"/>
          <p:nvPr/>
        </p:nvSpPr>
        <p:spPr>
          <a:xfrm>
            <a:off x="8128936" y="4250665"/>
            <a:ext cx="40630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/>
              <a:t>Top-rated colleges do not always provide better placement outcomes.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F28AC11-BAAA-9C59-5715-BDE4E2F95E58}"/>
              </a:ext>
            </a:extLst>
          </p:cNvPr>
          <p:cNvCxnSpPr>
            <a:cxnSpLocks/>
          </p:cNvCxnSpPr>
          <p:nvPr/>
        </p:nvCxnSpPr>
        <p:spPr>
          <a:xfrm>
            <a:off x="6334079" y="1822003"/>
            <a:ext cx="1519601" cy="339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3228FFE-24E7-24AB-EE0C-9A490C35E108}"/>
              </a:ext>
            </a:extLst>
          </p:cNvPr>
          <p:cNvCxnSpPr>
            <a:cxnSpLocks/>
          </p:cNvCxnSpPr>
          <p:nvPr/>
        </p:nvCxnSpPr>
        <p:spPr>
          <a:xfrm>
            <a:off x="6334078" y="4558442"/>
            <a:ext cx="1519601" cy="339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7568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A567FE-12B8-E980-FE6E-16CE5F88CE60}"/>
              </a:ext>
            </a:extLst>
          </p:cNvPr>
          <p:cNvSpPr txBox="1"/>
          <p:nvPr/>
        </p:nvSpPr>
        <p:spPr>
          <a:xfrm>
            <a:off x="243840" y="721360"/>
            <a:ext cx="6807200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/>
              <a:t>Hypotheses 3:</a:t>
            </a:r>
          </a:p>
          <a:p>
            <a:r>
              <a:rPr lang="en-US" sz="1700" dirty="0"/>
              <a:t>H₀: Location has no impact on placement</a:t>
            </a:r>
          </a:p>
          <a:p>
            <a:r>
              <a:rPr lang="en-US" sz="1700" dirty="0"/>
              <a:t>H₁: Placement varies by location</a:t>
            </a:r>
          </a:p>
          <a:p>
            <a:endParaRPr lang="en-US" sz="1700" dirty="0"/>
          </a:p>
          <a:p>
            <a:r>
              <a:rPr lang="en-US" sz="1700" dirty="0"/>
              <a:t>Result:</a:t>
            </a:r>
          </a:p>
          <a:p>
            <a:r>
              <a:rPr lang="en-US" sz="1700" dirty="0"/>
              <a:t>p-value = 0.003</a:t>
            </a:r>
          </a:p>
          <a:p>
            <a:r>
              <a:rPr lang="en-US" sz="1700" dirty="0"/>
              <a:t>Decision: Reject H₀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63BA22-39CD-A6B9-A073-B0ACF5E036C4}"/>
              </a:ext>
            </a:extLst>
          </p:cNvPr>
          <p:cNvSpPr txBox="1"/>
          <p:nvPr/>
        </p:nvSpPr>
        <p:spPr>
          <a:xfrm>
            <a:off x="243840" y="3251235"/>
            <a:ext cx="58216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Hypotheses 4:</a:t>
            </a:r>
          </a:p>
          <a:p>
            <a:r>
              <a:rPr lang="en-IN" sz="1600" dirty="0"/>
              <a:t>H₀: Affordable colleges do not offer strong placements</a:t>
            </a:r>
          </a:p>
          <a:p>
            <a:r>
              <a:rPr lang="en-IN" sz="1600" dirty="0"/>
              <a:t>H₁: Affordable colleges can offer strong placements</a:t>
            </a:r>
          </a:p>
          <a:p>
            <a:endParaRPr lang="en-IN" sz="1600" dirty="0"/>
          </a:p>
          <a:p>
            <a:r>
              <a:rPr lang="en-IN" sz="1600" dirty="0"/>
              <a:t>Result:</a:t>
            </a:r>
          </a:p>
          <a:p>
            <a:r>
              <a:rPr lang="en-IN" sz="1600" dirty="0"/>
              <a:t>p-value = 7.06 × 10⁻⁵</a:t>
            </a:r>
          </a:p>
          <a:p>
            <a:r>
              <a:rPr lang="en-IN" sz="1600" dirty="0"/>
              <a:t>Decision: Reject H₀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96BC41-44E9-90B4-03A8-8B9201D5B41F}"/>
              </a:ext>
            </a:extLst>
          </p:cNvPr>
          <p:cNvSpPr txBox="1"/>
          <p:nvPr/>
        </p:nvSpPr>
        <p:spPr>
          <a:xfrm>
            <a:off x="6895357" y="1517625"/>
            <a:ext cx="529664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/>
              <a:t>Placement outcomes vary significantly across states.</a:t>
            </a:r>
          </a:p>
          <a:p>
            <a:endParaRPr lang="en-IN" sz="17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09F33A-4513-9BC9-51A4-0F9359DFA2D3}"/>
              </a:ext>
            </a:extLst>
          </p:cNvPr>
          <p:cNvSpPr txBox="1"/>
          <p:nvPr/>
        </p:nvSpPr>
        <p:spPr>
          <a:xfrm>
            <a:off x="7051040" y="3851399"/>
            <a:ext cx="514096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dirty="0"/>
              <a:t>Affordable colleges CAN deliver strong placement outcomes.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BF821A4-5BAE-1323-4F11-72CBB536396A}"/>
              </a:ext>
            </a:extLst>
          </p:cNvPr>
          <p:cNvCxnSpPr>
            <a:cxnSpLocks/>
          </p:cNvCxnSpPr>
          <p:nvPr/>
        </p:nvCxnSpPr>
        <p:spPr>
          <a:xfrm>
            <a:off x="5125038" y="1679763"/>
            <a:ext cx="1519601" cy="339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C9FC909-EEF1-5318-2101-1A4DA8306272}"/>
              </a:ext>
            </a:extLst>
          </p:cNvPr>
          <p:cNvCxnSpPr>
            <a:cxnSpLocks/>
          </p:cNvCxnSpPr>
          <p:nvPr/>
        </p:nvCxnSpPr>
        <p:spPr>
          <a:xfrm>
            <a:off x="5125037" y="4213036"/>
            <a:ext cx="1519601" cy="339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762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5;p3">
            <a:extLst>
              <a:ext uri="{FF2B5EF4-FFF2-40B4-BE49-F238E27FC236}">
                <a16:creationId xmlns:a16="http://schemas.microsoft.com/office/drawing/2014/main" id="{2B0E7333-CF84-3303-D3F1-B6F449A2342E}"/>
              </a:ext>
            </a:extLst>
          </p:cNvPr>
          <p:cNvSpPr txBox="1"/>
          <p:nvPr/>
        </p:nvSpPr>
        <p:spPr>
          <a:xfrm>
            <a:off x="346376" y="314954"/>
            <a:ext cx="609946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eaLnBrk="0" fontAlgn="base" hangingPunct="0"/>
            <a:r>
              <a:rPr lang="en-US" altLang="en-US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584D8A7-F8BF-92AA-1B51-EF5A2084D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56" y="1046862"/>
            <a:ext cx="7172024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Tuition fee and placement show only a weak relationship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fees do not guarantee better placements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College ratings have minimal impact on real outcomes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Location matters for availability, not guaranteed success</a:t>
            </a:r>
          </a:p>
        </p:txBody>
      </p:sp>
      <p:sp>
        <p:nvSpPr>
          <p:cNvPr id="6" name="Google Shape;105;p3">
            <a:extLst>
              <a:ext uri="{FF2B5EF4-FFF2-40B4-BE49-F238E27FC236}">
                <a16:creationId xmlns:a16="http://schemas.microsoft.com/office/drawing/2014/main" id="{65711B65-0111-4106-AE6F-C5CAE763BFB2}"/>
              </a:ext>
            </a:extLst>
          </p:cNvPr>
          <p:cNvSpPr txBox="1"/>
          <p:nvPr/>
        </p:nvSpPr>
        <p:spPr>
          <a:xfrm>
            <a:off x="346376" y="3065266"/>
            <a:ext cx="609946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eaLnBrk="0" fontAlgn="base" hangingPunct="0"/>
            <a:r>
              <a:rPr lang="en-US" altLang="en-US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46565D-A5FD-6408-AA8F-30151CFA1333}"/>
              </a:ext>
            </a:extLst>
          </p:cNvPr>
          <p:cNvSpPr txBox="1"/>
          <p:nvPr/>
        </p:nvSpPr>
        <p:spPr>
          <a:xfrm>
            <a:off x="529256" y="3865249"/>
            <a:ext cx="6308424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Prefer mid-range tuition fee colleges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Do not chase extreme placement numbers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Compare fees vs realistic placement outcomes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 Do not consider rankings alone, for decision-making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65713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A37483-2B97-52DA-5A54-334E4E0E9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740" y="264160"/>
            <a:ext cx="9405620" cy="576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35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1029</Words>
  <Application>Microsoft Office PowerPoint</Application>
  <PresentationFormat>Widescreen</PresentationFormat>
  <Paragraphs>139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Wingdings</vt:lpstr>
      <vt:lpstr>Lato Black</vt:lpstr>
      <vt:lpstr>Libre Baskerville</vt:lpstr>
      <vt:lpstr>Calibri</vt:lpstr>
      <vt:lpstr>Courier New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Annonymus M</cp:lastModifiedBy>
  <cp:revision>19</cp:revision>
  <dcterms:created xsi:type="dcterms:W3CDTF">2021-02-16T05:19:01Z</dcterms:created>
  <dcterms:modified xsi:type="dcterms:W3CDTF">2026-01-31T04:59:35Z</dcterms:modified>
</cp:coreProperties>
</file>